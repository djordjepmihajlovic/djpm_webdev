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71" r:id="rId3"/>
    <p:sldId id="272" r:id="rId4"/>
    <p:sldId id="257" r:id="rId5"/>
    <p:sldId id="258" r:id="rId6"/>
    <p:sldId id="265" r:id="rId7"/>
    <p:sldId id="263" r:id="rId8"/>
    <p:sldId id="273" r:id="rId9"/>
    <p:sldId id="264" r:id="rId10"/>
    <p:sldId id="266" r:id="rId11"/>
    <p:sldId id="267" r:id="rId12"/>
  </p:sldIdLst>
  <p:sldSz cx="9144000" cy="5143500" type="screen16x9"/>
  <p:notesSz cx="6858000" cy="9144000"/>
  <p:embeddedFontLst>
    <p:embeddedFont>
      <p:font typeface="Epilogue Light" pitchFamily="2" charset="77"/>
      <p:regular r:id="rId14"/>
      <p:bold r:id="rId15"/>
      <p:italic r:id="rId16"/>
      <p:boldItalic r:id="rId17"/>
    </p:embeddedFont>
    <p:embeddedFont>
      <p:font typeface="Epilogue SemiBold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266FA47-E946-49DA-82CA-05671E37CC94}">
  <a:tblStyle styleId="{3266FA47-E946-49DA-82CA-05671E37CC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378"/>
    <p:restoredTop sz="94561"/>
  </p:normalViewPr>
  <p:slideViewPr>
    <p:cSldViewPr snapToGrid="0">
      <p:cViewPr>
        <p:scale>
          <a:sx n="122" d="100"/>
          <a:sy n="122" d="100"/>
        </p:scale>
        <p:origin x="168" y="7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F72EDD53-1984-F3CE-9402-A8369A7D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1dfdd5aa9e_0_1:notes">
            <a:extLst>
              <a:ext uri="{FF2B5EF4-FFF2-40B4-BE49-F238E27FC236}">
                <a16:creationId xmlns:a16="http://schemas.microsoft.com/office/drawing/2014/main" id="{0AA283B7-F198-6667-7844-C78368EC00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1dfdd5aa9e_0_1:notes">
            <a:extLst>
              <a:ext uri="{FF2B5EF4-FFF2-40B4-BE49-F238E27FC236}">
                <a16:creationId xmlns:a16="http://schemas.microsoft.com/office/drawing/2014/main" id="{B5CB6B06-2D76-BAE9-2419-E92383AF85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6300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883770A2-835E-57C9-A831-36C87022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1dfdd5aa9e_0_1:notes">
            <a:extLst>
              <a:ext uri="{FF2B5EF4-FFF2-40B4-BE49-F238E27FC236}">
                <a16:creationId xmlns:a16="http://schemas.microsoft.com/office/drawing/2014/main" id="{0E5D1FD2-DB89-9D6D-7614-488918F6C6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1dfdd5aa9e_0_1:notes">
            <a:extLst>
              <a:ext uri="{FF2B5EF4-FFF2-40B4-BE49-F238E27FC236}">
                <a16:creationId xmlns:a16="http://schemas.microsoft.com/office/drawing/2014/main" id="{4B1C0A61-0367-7FE8-B3C3-DA0D4DF74C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52947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1dfdd5aa9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1dfdd5aa9e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dfdd5aa9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dfdd5aa9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72B084DA-C795-BEE4-EF54-BD5B2B6AA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dfdd5aa9e_0_12:notes">
            <a:extLst>
              <a:ext uri="{FF2B5EF4-FFF2-40B4-BE49-F238E27FC236}">
                <a16:creationId xmlns:a16="http://schemas.microsoft.com/office/drawing/2014/main" id="{D1854904-38DB-0E56-F44F-386A93EE9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dfdd5aa9e_0_12:notes">
            <a:extLst>
              <a:ext uri="{FF2B5EF4-FFF2-40B4-BE49-F238E27FC236}">
                <a16:creationId xmlns:a16="http://schemas.microsoft.com/office/drawing/2014/main" id="{E1337898-D857-5F8C-C015-F078BAAE0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1368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C7B61D95-4D79-EDFE-9FDD-7C4F526F4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dfdd5aa9e_0_12:notes">
            <a:extLst>
              <a:ext uri="{FF2B5EF4-FFF2-40B4-BE49-F238E27FC236}">
                <a16:creationId xmlns:a16="http://schemas.microsoft.com/office/drawing/2014/main" id="{8046CCA8-F888-7BDC-3BD8-57B294AFC5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dfdd5aa9e_0_12:notes">
            <a:extLst>
              <a:ext uri="{FF2B5EF4-FFF2-40B4-BE49-F238E27FC236}">
                <a16:creationId xmlns:a16="http://schemas.microsoft.com/office/drawing/2014/main" id="{3E6BFAC3-E8D8-B40D-16E8-5F79065392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280557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7F414959-F402-C329-5D12-FAC4770D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dfdd5aa9e_0_12:notes">
            <a:extLst>
              <a:ext uri="{FF2B5EF4-FFF2-40B4-BE49-F238E27FC236}">
                <a16:creationId xmlns:a16="http://schemas.microsoft.com/office/drawing/2014/main" id="{6B0774FD-D4D8-0C6C-76BF-D5F491269C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dfdd5aa9e_0_12:notes">
            <a:extLst>
              <a:ext uri="{FF2B5EF4-FFF2-40B4-BE49-F238E27FC236}">
                <a16:creationId xmlns:a16="http://schemas.microsoft.com/office/drawing/2014/main" id="{6E6725A6-6F9F-CDE4-75D7-45C6E06217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196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919B9B91-D221-928C-3758-2184E5398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dfdd5aa9e_0_12:notes">
            <a:extLst>
              <a:ext uri="{FF2B5EF4-FFF2-40B4-BE49-F238E27FC236}">
                <a16:creationId xmlns:a16="http://schemas.microsoft.com/office/drawing/2014/main" id="{BA8B4CE2-EC24-291A-B8D7-23486DA01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dfdd5aa9e_0_12:notes">
            <a:extLst>
              <a:ext uri="{FF2B5EF4-FFF2-40B4-BE49-F238E27FC236}">
                <a16:creationId xmlns:a16="http://schemas.microsoft.com/office/drawing/2014/main" id="{921DC4C8-33E1-3ED1-2296-8CA1E4B3D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86747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8FEDFBA0-51AB-4DE2-D137-24E6AABC0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dfdd5aa9e_0_12:notes">
            <a:extLst>
              <a:ext uri="{FF2B5EF4-FFF2-40B4-BE49-F238E27FC236}">
                <a16:creationId xmlns:a16="http://schemas.microsoft.com/office/drawing/2014/main" id="{51DE8D85-3385-2125-EB03-08DC107869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dfdd5aa9e_0_12:notes">
            <a:extLst>
              <a:ext uri="{FF2B5EF4-FFF2-40B4-BE49-F238E27FC236}">
                <a16:creationId xmlns:a16="http://schemas.microsoft.com/office/drawing/2014/main" id="{8D70581E-0E5E-50DC-2FC1-6246726892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242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>
          <a:extLst>
            <a:ext uri="{FF2B5EF4-FFF2-40B4-BE49-F238E27FC236}">
              <a16:creationId xmlns:a16="http://schemas.microsoft.com/office/drawing/2014/main" id="{DFCA5015-7B39-866D-F328-2C02CE9E1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1dfdd5aa9e_0_12:notes">
            <a:extLst>
              <a:ext uri="{FF2B5EF4-FFF2-40B4-BE49-F238E27FC236}">
                <a16:creationId xmlns:a16="http://schemas.microsoft.com/office/drawing/2014/main" id="{01AC118C-E39A-CB6A-C0A3-ABCA35DB00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1dfdd5aa9e_0_12:notes">
            <a:extLst>
              <a:ext uri="{FF2B5EF4-FFF2-40B4-BE49-F238E27FC236}">
                <a16:creationId xmlns:a16="http://schemas.microsoft.com/office/drawing/2014/main" id="{849BE1FB-87E8-FB7B-87D5-FF8CA3207C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467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8152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500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Machine Learning for Knot Invariants.</a:t>
            </a:r>
            <a:endParaRPr sz="3500"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Presented by: </a:t>
            </a:r>
            <a:r>
              <a:rPr lang="en" sz="1600" dirty="0" err="1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Djordje</a:t>
            </a:r>
            <a:r>
              <a:rPr lang="en" sz="1600" dirty="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 Mihajlovic </a:t>
            </a:r>
            <a:br>
              <a:rPr lang="en" sz="1600" dirty="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</a:br>
            <a:r>
              <a:rPr lang="en" sz="1200" dirty="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for the WPI-SKCM</a:t>
            </a:r>
            <a:r>
              <a:rPr lang="en" sz="1200" baseline="30000" dirty="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2 </a:t>
            </a:r>
            <a:r>
              <a:rPr lang="en" sz="1200" dirty="0">
                <a:solidFill>
                  <a:schemeClr val="dk1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winter school.</a:t>
            </a:r>
            <a:endParaRPr sz="1200" dirty="0">
              <a:solidFill>
                <a:schemeClr val="dk1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15275"/>
            <a:ext cx="1073799" cy="108094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11700" y="3702250"/>
            <a:ext cx="59091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Epilogue Light"/>
                <a:ea typeface="Epilogue Light"/>
                <a:cs typeface="Epilogue Light"/>
                <a:sym typeface="Epilogue Light"/>
              </a:rPr>
              <a:t>Member of </a:t>
            </a:r>
            <a:r>
              <a:rPr lang="en" sz="1200" dirty="0" err="1">
                <a:latin typeface="Epilogue Light"/>
                <a:ea typeface="Epilogue Light"/>
                <a:cs typeface="Epilogue Light"/>
                <a:sym typeface="Epilogue Light"/>
              </a:rPr>
              <a:t>TAPLab</a:t>
            </a:r>
            <a:r>
              <a:rPr lang="en" sz="1200" dirty="0">
                <a:latin typeface="Epilogue Light"/>
                <a:ea typeface="Epilogue Light"/>
                <a:cs typeface="Epilogue Light"/>
                <a:sym typeface="Epilogue Light"/>
              </a:rPr>
              <a:t> &amp; AGQ CDT.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Epilogue Light"/>
                <a:ea typeface="Epilogue Light"/>
                <a:cs typeface="Epilogue Light"/>
                <a:sym typeface="Epilogue Light"/>
              </a:rPr>
              <a:t>School of </a:t>
            </a:r>
            <a:r>
              <a:rPr lang="en-GB" sz="1200" dirty="0">
                <a:latin typeface="Epilogue Light"/>
                <a:ea typeface="Epilogue Light"/>
                <a:cs typeface="Epilogue Light"/>
                <a:sym typeface="Epilogue Light"/>
              </a:rPr>
              <a:t>Mathematics</a:t>
            </a:r>
            <a:endParaRPr sz="1200" dirty="0">
              <a:latin typeface="Epilogue Light"/>
              <a:ea typeface="Epilogue Light"/>
              <a:cs typeface="Epilogue Light"/>
              <a:sym typeface="Epilogue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Epilogue Light"/>
                <a:ea typeface="Epilogue Light"/>
                <a:cs typeface="Epilogue Light"/>
                <a:sym typeface="Epilogue Light"/>
              </a:rPr>
              <a:t>University of Edinburgh</a:t>
            </a:r>
            <a:endParaRPr sz="1200" dirty="0">
              <a:latin typeface="Epilogue Light"/>
              <a:ea typeface="Epilogue Light"/>
              <a:cs typeface="Epilogue Light"/>
              <a:sym typeface="Epilogue Light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999125" y="4441150"/>
            <a:ext cx="1666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Dec 2024</a:t>
            </a:r>
            <a:endParaRPr dirty="0"/>
          </a:p>
        </p:txBody>
      </p:sp>
      <p:pic>
        <p:nvPicPr>
          <p:cNvPr id="3" name="Picture 2" descr="A person smiling at the camera&#10;&#10;Description automatically generated">
            <a:extLst>
              <a:ext uri="{FF2B5EF4-FFF2-40B4-BE49-F238E27FC236}">
                <a16:creationId xmlns:a16="http://schemas.microsoft.com/office/drawing/2014/main" id="{C4E4E22D-07C8-4142-FAFE-D53130B220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1826" y="315275"/>
            <a:ext cx="1073799" cy="1089167"/>
          </a:xfrm>
          <a:prstGeom prst="ellipse">
            <a:avLst/>
          </a:prstGeom>
        </p:spPr>
      </p:pic>
      <p:pic>
        <p:nvPicPr>
          <p:cNvPr id="5" name="Picture 4" descr="A logo with a black background&#10;&#10;Description automatically generated">
            <a:extLst>
              <a:ext uri="{FF2B5EF4-FFF2-40B4-BE49-F238E27FC236}">
                <a16:creationId xmlns:a16="http://schemas.microsoft.com/office/drawing/2014/main" id="{DBD7BE42-DF09-8EB8-D07D-B3E3CD8B4C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7893" y="315276"/>
            <a:ext cx="3267498" cy="10891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3A610D82-099C-DB36-EECB-09CA6C12B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F7B2BB1F-0F35-6805-C1BD-55D57BBD5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Summary.</a:t>
            </a:r>
            <a:endParaRPr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858477D0-D105-7CF8-A53F-4E6EE24C94E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cxnSp>
        <p:nvCxnSpPr>
          <p:cNvPr id="66" name="Google Shape;66;p14">
            <a:extLst>
              <a:ext uri="{FF2B5EF4-FFF2-40B4-BE49-F238E27FC236}">
                <a16:creationId xmlns:a16="http://schemas.microsoft.com/office/drawing/2014/main" id="{392E6071-37E8-0982-35DE-CFA01CB7D301}"/>
              </a:ext>
            </a:extLst>
          </p:cNvPr>
          <p:cNvCxnSpPr/>
          <p:nvPr/>
        </p:nvCxnSpPr>
        <p:spPr>
          <a:xfrm>
            <a:off x="311700" y="1017750"/>
            <a:ext cx="843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E6D8789B-47BE-6705-9D9E-3FED4DD5D967}"/>
              </a:ext>
            </a:extLst>
          </p:cNvPr>
          <p:cNvSpPr txBox="1"/>
          <p:nvPr/>
        </p:nvSpPr>
        <p:spPr>
          <a:xfrm>
            <a:off x="0" y="4820400"/>
            <a:ext cx="4846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2" name="Google Shape;99;p16">
            <a:extLst>
              <a:ext uri="{FF2B5EF4-FFF2-40B4-BE49-F238E27FC236}">
                <a16:creationId xmlns:a16="http://schemas.microsoft.com/office/drawing/2014/main" id="{83E339C4-0E3E-DE1B-DC2C-6DC1AC2264CC}"/>
              </a:ext>
            </a:extLst>
          </p:cNvPr>
          <p:cNvSpPr txBox="1">
            <a:spLocks/>
          </p:cNvSpPr>
          <p:nvPr/>
        </p:nvSpPr>
        <p:spPr>
          <a:xfrm>
            <a:off x="372347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1200"/>
              </a:spcBef>
              <a:buBlip>
                <a:blip r:embed="rId3"/>
              </a:buBlip>
            </a:pPr>
            <a:r>
              <a:rPr lang="en-GB" dirty="0"/>
              <a:t>Machine Learning.</a:t>
            </a:r>
          </a:p>
          <a:p>
            <a:pPr marL="285750" indent="-285750">
              <a:spcBef>
                <a:spcPts val="1200"/>
              </a:spcBef>
              <a:buBlip>
                <a:blip r:embed="rId4"/>
              </a:buBlip>
            </a:pPr>
            <a:r>
              <a:rPr lang="en-GB" dirty="0"/>
              <a:t>Gaussian linking integral.</a:t>
            </a:r>
          </a:p>
          <a:p>
            <a:pPr marL="285750" indent="-285750">
              <a:spcBef>
                <a:spcPts val="1200"/>
              </a:spcBef>
              <a:buBlip>
                <a:blip r:embed="rId5"/>
              </a:buBlip>
            </a:pPr>
            <a:r>
              <a:rPr lang="en-GB" dirty="0"/>
              <a:t>Finite Type (Vassiliev) Knot Invariants.</a:t>
            </a:r>
          </a:p>
        </p:txBody>
      </p:sp>
    </p:spTree>
    <p:extLst>
      <p:ext uri="{BB962C8B-B14F-4D97-AF65-F5344CB8AC3E}">
        <p14:creationId xmlns:p14="http://schemas.microsoft.com/office/powerpoint/2010/main" val="3203558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70E84EE5-D1C4-9F97-EC81-A5AE5CCD5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>
            <a:extLst>
              <a:ext uri="{FF2B5EF4-FFF2-40B4-BE49-F238E27FC236}">
                <a16:creationId xmlns:a16="http://schemas.microsoft.com/office/drawing/2014/main" id="{DD513E91-941D-092E-7DB0-388F37B1A1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Machine Learning.</a:t>
            </a:r>
            <a:endParaRPr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65" name="Google Shape;65;p14">
            <a:extLst>
              <a:ext uri="{FF2B5EF4-FFF2-40B4-BE49-F238E27FC236}">
                <a16:creationId xmlns:a16="http://schemas.microsoft.com/office/drawing/2014/main" id="{FDF2F924-7A1F-99B9-B06E-6BAE244E24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cxnSp>
        <p:nvCxnSpPr>
          <p:cNvPr id="66" name="Google Shape;66;p14">
            <a:extLst>
              <a:ext uri="{FF2B5EF4-FFF2-40B4-BE49-F238E27FC236}">
                <a16:creationId xmlns:a16="http://schemas.microsoft.com/office/drawing/2014/main" id="{1627211B-652F-6514-958C-B84B9F727E84}"/>
              </a:ext>
            </a:extLst>
          </p:cNvPr>
          <p:cNvCxnSpPr/>
          <p:nvPr/>
        </p:nvCxnSpPr>
        <p:spPr>
          <a:xfrm>
            <a:off x="311700" y="1017750"/>
            <a:ext cx="843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>
            <a:extLst>
              <a:ext uri="{FF2B5EF4-FFF2-40B4-BE49-F238E27FC236}">
                <a16:creationId xmlns:a16="http://schemas.microsoft.com/office/drawing/2014/main" id="{E7FA3FDF-7BE7-C8BB-A94A-A9C37D2C6D4D}"/>
              </a:ext>
            </a:extLst>
          </p:cNvPr>
          <p:cNvSpPr txBox="1"/>
          <p:nvPr/>
        </p:nvSpPr>
        <p:spPr>
          <a:xfrm>
            <a:off x="0" y="4820400"/>
            <a:ext cx="48462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pic>
        <p:nvPicPr>
          <p:cNvPr id="4" name="Picture 3" descr="A diagram of a single layer neural network&#10;&#10;Description automatically generated">
            <a:extLst>
              <a:ext uri="{FF2B5EF4-FFF2-40B4-BE49-F238E27FC236}">
                <a16:creationId xmlns:a16="http://schemas.microsoft.com/office/drawing/2014/main" id="{21395763-8723-9DD4-EDB4-9AE4E160D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342" y="1295808"/>
            <a:ext cx="3100003" cy="2551883"/>
          </a:xfrm>
          <a:prstGeom prst="rect">
            <a:avLst/>
          </a:prstGeom>
        </p:spPr>
      </p:pic>
      <p:sp>
        <p:nvSpPr>
          <p:cNvPr id="5" name="Left Brace 4">
            <a:extLst>
              <a:ext uri="{FF2B5EF4-FFF2-40B4-BE49-F238E27FC236}">
                <a16:creationId xmlns:a16="http://schemas.microsoft.com/office/drawing/2014/main" id="{39BB5EF8-5ED1-28A4-80AB-D2EBA1B8EEBD}"/>
              </a:ext>
            </a:extLst>
          </p:cNvPr>
          <p:cNvSpPr/>
          <p:nvPr/>
        </p:nvSpPr>
        <p:spPr>
          <a:xfrm>
            <a:off x="2689411" y="1864506"/>
            <a:ext cx="457366" cy="2052913"/>
          </a:xfrm>
          <a:prstGeom prst="leftBrace">
            <a:avLst>
              <a:gd name="adj1" fmla="val 49494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Google Shape;99;p16">
            <a:extLst>
              <a:ext uri="{FF2B5EF4-FFF2-40B4-BE49-F238E27FC236}">
                <a16:creationId xmlns:a16="http://schemas.microsoft.com/office/drawing/2014/main" id="{2775CB2D-3B75-08E9-14DE-64E78DFCBA19}"/>
              </a:ext>
            </a:extLst>
          </p:cNvPr>
          <p:cNvSpPr txBox="1">
            <a:spLocks/>
          </p:cNvSpPr>
          <p:nvPr/>
        </p:nvSpPr>
        <p:spPr>
          <a:xfrm>
            <a:off x="928324" y="2454116"/>
            <a:ext cx="2075018" cy="55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1100" dirty="0"/>
              <a:t>Some choice of input data which has a true label.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75EAC3FA-F87D-ECDD-E2A7-505870D92B16}"/>
              </a:ext>
            </a:extLst>
          </p:cNvPr>
          <p:cNvSpPr/>
          <p:nvPr/>
        </p:nvSpPr>
        <p:spPr>
          <a:xfrm rot="16200000">
            <a:off x="4211172" y="3299628"/>
            <a:ext cx="457366" cy="1403137"/>
          </a:xfrm>
          <a:prstGeom prst="leftBrace">
            <a:avLst>
              <a:gd name="adj1" fmla="val 49494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Google Shape;99;p16">
            <a:extLst>
              <a:ext uri="{FF2B5EF4-FFF2-40B4-BE49-F238E27FC236}">
                <a16:creationId xmlns:a16="http://schemas.microsoft.com/office/drawing/2014/main" id="{5C99F450-F1AE-1CF3-8198-41174AF66332}"/>
              </a:ext>
            </a:extLst>
          </p:cNvPr>
          <p:cNvSpPr txBox="1">
            <a:spLocks/>
          </p:cNvSpPr>
          <p:nvPr/>
        </p:nvSpPr>
        <p:spPr>
          <a:xfrm>
            <a:off x="3003342" y="4042887"/>
            <a:ext cx="3366008" cy="55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1100" dirty="0"/>
              <a:t>Hidden computation: computer tries to accurately classify data. 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03ED8C74-EBE0-4599-0649-FBD9A07D0205}"/>
              </a:ext>
            </a:extLst>
          </p:cNvPr>
          <p:cNvSpPr/>
          <p:nvPr/>
        </p:nvSpPr>
        <p:spPr>
          <a:xfrm rot="10800000">
            <a:off x="5539859" y="2349666"/>
            <a:ext cx="457366" cy="1063749"/>
          </a:xfrm>
          <a:prstGeom prst="leftBrace">
            <a:avLst>
              <a:gd name="adj1" fmla="val 49494"/>
              <a:gd name="adj2" fmla="val 50000"/>
            </a:avLst>
          </a:prstGeom>
          <a:ln>
            <a:headEnd type="none" w="med" len="med"/>
            <a:tailEnd type="none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99;p16">
            <a:extLst>
              <a:ext uri="{FF2B5EF4-FFF2-40B4-BE49-F238E27FC236}">
                <a16:creationId xmlns:a16="http://schemas.microsoft.com/office/drawing/2014/main" id="{75EC6A48-E949-CD83-2B8C-644C06A996A1}"/>
              </a:ext>
            </a:extLst>
          </p:cNvPr>
          <p:cNvSpPr txBox="1">
            <a:spLocks/>
          </p:cNvSpPr>
          <p:nvPr/>
        </p:nvSpPr>
        <p:spPr>
          <a:xfrm>
            <a:off x="5997225" y="2279937"/>
            <a:ext cx="2214446" cy="9000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1100" dirty="0"/>
              <a:t>Computation is iteratively improved until classification is as accurate as possible for given input. </a:t>
            </a:r>
          </a:p>
        </p:txBody>
      </p:sp>
    </p:spTree>
    <p:extLst>
      <p:ext uri="{BB962C8B-B14F-4D97-AF65-F5344CB8AC3E}">
        <p14:creationId xmlns:p14="http://schemas.microsoft.com/office/powerpoint/2010/main" val="2753699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9" grpId="0"/>
      <p:bldP spid="10" grpId="0" animBg="1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Machine Learning for Knot Theory.</a:t>
            </a:r>
            <a:endParaRPr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65" name="Google Shape;6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cxnSp>
        <p:nvCxnSpPr>
          <p:cNvPr id="66" name="Google Shape;66;p14"/>
          <p:cNvCxnSpPr/>
          <p:nvPr/>
        </p:nvCxnSpPr>
        <p:spPr>
          <a:xfrm>
            <a:off x="311700" y="1017750"/>
            <a:ext cx="843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4"/>
          <p:cNvSpPr txBox="1"/>
          <p:nvPr/>
        </p:nvSpPr>
        <p:spPr>
          <a:xfrm>
            <a:off x="0" y="4618250"/>
            <a:ext cx="8113059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900" dirty="0">
                <a:solidFill>
                  <a:srgbClr val="222222"/>
                </a:solidFill>
                <a:latin typeface="Arial" panose="020B0604020202020204" pitchFamily="34" charset="0"/>
              </a:rPr>
              <a:t>[1] </a:t>
            </a:r>
            <a:r>
              <a:rPr lang="en-GB" sz="9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Davies, A., Juhász, A., </a:t>
            </a:r>
            <a:r>
              <a:rPr lang="en-GB" sz="9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Lackenby</a:t>
            </a:r>
            <a:r>
              <a:rPr lang="en-GB" sz="9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M., &amp; </a:t>
            </a:r>
            <a:r>
              <a:rPr lang="en-GB" sz="9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Tomasev</a:t>
            </a:r>
            <a:r>
              <a:rPr lang="en-GB" sz="9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N. (2021). The signature and cusp geometry of hyperbolic knots. </a:t>
            </a:r>
            <a:r>
              <a:rPr lang="en-GB" sz="900" b="0" i="1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lang="en-GB" sz="9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preprint arXiv:2111.15323</a:t>
            </a:r>
            <a:r>
              <a:rPr lang="en-GB" sz="9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GB" sz="9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[2] </a:t>
            </a:r>
            <a:r>
              <a:rPr lang="en-GB" sz="90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Vandans</a:t>
            </a:r>
            <a:r>
              <a:rPr lang="en-GB" sz="9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O., Yang, K., Wu, Z., &amp; Dai, L. (2020). Identifying knot types of polymer conformations by machine learning. </a:t>
            </a:r>
            <a:r>
              <a:rPr lang="en-GB" sz="9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Physical Review E</a:t>
            </a:r>
            <a:r>
              <a:rPr lang="en-GB" sz="9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90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101</a:t>
            </a:r>
            <a:r>
              <a:rPr lang="en-GB" sz="90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022502.</a:t>
            </a:r>
            <a:endParaRPr lang="en-GB" sz="900" dirty="0"/>
          </a:p>
          <a:p>
            <a:endParaRPr lang="en-GB" sz="9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dirty="0"/>
          </a:p>
        </p:txBody>
      </p:sp>
      <p:sp>
        <p:nvSpPr>
          <p:cNvPr id="2" name="Google Shape;99;p16">
            <a:extLst>
              <a:ext uri="{FF2B5EF4-FFF2-40B4-BE49-F238E27FC236}">
                <a16:creationId xmlns:a16="http://schemas.microsoft.com/office/drawing/2014/main" id="{78286D71-7EC5-363C-A414-CDBDD9EEC084}"/>
              </a:ext>
            </a:extLst>
          </p:cNvPr>
          <p:cNvSpPr txBox="1">
            <a:spLocks/>
          </p:cNvSpPr>
          <p:nvPr/>
        </p:nvSpPr>
        <p:spPr>
          <a:xfrm>
            <a:off x="372347" y="1243912"/>
            <a:ext cx="8520600" cy="1490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>
              <a:spcBef>
                <a:spcPts val="1200"/>
              </a:spcBef>
              <a:buBlip>
                <a:blip r:embed="rId3"/>
              </a:buBlip>
            </a:pPr>
            <a:r>
              <a:rPr lang="en-GB" sz="2200" dirty="0"/>
              <a:t>M. </a:t>
            </a:r>
            <a:r>
              <a:rPr lang="en-GB" sz="2200" dirty="0" err="1"/>
              <a:t>Lackenby</a:t>
            </a:r>
            <a:r>
              <a:rPr lang="en-GB" sz="2200" dirty="0"/>
              <a:t> – finding relationships between different types of knot invariants</a:t>
            </a:r>
            <a:r>
              <a:rPr lang="en-GB" sz="2200" baseline="30000" dirty="0"/>
              <a:t>1</a:t>
            </a:r>
            <a:r>
              <a:rPr lang="en-GB" sz="2200" dirty="0"/>
              <a:t>.</a:t>
            </a:r>
          </a:p>
          <a:p>
            <a:pPr marL="742950" lvl="1" indent="-285750">
              <a:spcBef>
                <a:spcPts val="1200"/>
              </a:spcBef>
            </a:pPr>
            <a:r>
              <a:rPr lang="en-GB" sz="1600" dirty="0"/>
              <a:t>Dataset: several knot invariants up to knots with 15 crossings.</a:t>
            </a:r>
          </a:p>
          <a:p>
            <a:pPr marL="1200150" lvl="2" indent="-285750">
              <a:spcBef>
                <a:spcPts val="1200"/>
              </a:spcBef>
            </a:pPr>
            <a:r>
              <a:rPr lang="en-GB" sz="1600" dirty="0"/>
              <a:t>Features: Knot Invariants. </a:t>
            </a:r>
          </a:p>
          <a:p>
            <a:pPr marL="1200150" lvl="2" indent="-285750">
              <a:spcBef>
                <a:spcPts val="1200"/>
              </a:spcBef>
            </a:pPr>
            <a:r>
              <a:rPr lang="en-GB" sz="1600" dirty="0"/>
              <a:t>Labels: Other Knot Invariants.</a:t>
            </a:r>
          </a:p>
        </p:txBody>
      </p:sp>
      <p:sp>
        <p:nvSpPr>
          <p:cNvPr id="6" name="Google Shape;99;p16">
            <a:extLst>
              <a:ext uri="{FF2B5EF4-FFF2-40B4-BE49-F238E27FC236}">
                <a16:creationId xmlns:a16="http://schemas.microsoft.com/office/drawing/2014/main" id="{587DDD29-F06D-B5D3-5B2C-F2C93538A558}"/>
              </a:ext>
            </a:extLst>
          </p:cNvPr>
          <p:cNvSpPr txBox="1">
            <a:spLocks/>
          </p:cNvSpPr>
          <p:nvPr/>
        </p:nvSpPr>
        <p:spPr>
          <a:xfrm>
            <a:off x="372347" y="2769703"/>
            <a:ext cx="8520600" cy="1490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1200"/>
              </a:spcBef>
              <a:buBlip>
                <a:blip r:embed="rId3"/>
              </a:buBlip>
            </a:pPr>
            <a:r>
              <a:rPr lang="en-GB" dirty="0"/>
              <a:t>O. </a:t>
            </a:r>
            <a:r>
              <a:rPr lang="en-GB" dirty="0" err="1"/>
              <a:t>Vandans</a:t>
            </a:r>
            <a:r>
              <a:rPr lang="en-GB" dirty="0"/>
              <a:t> – Classifying knot conformations in polymers</a:t>
            </a:r>
            <a:r>
              <a:rPr lang="en-GB" baseline="30000" dirty="0"/>
              <a:t>2</a:t>
            </a:r>
            <a:r>
              <a:rPr lang="en-GB" dirty="0"/>
              <a:t>.</a:t>
            </a:r>
          </a:p>
          <a:p>
            <a:pPr marL="742950" lvl="1" indent="-285750">
              <a:spcBef>
                <a:spcPts val="1200"/>
              </a:spcBef>
            </a:pPr>
            <a:r>
              <a:rPr lang="en-GB" dirty="0"/>
              <a:t>Dataset: several thousand perturbed conformations of first 5 crossing knots (using coordinate data).</a:t>
            </a:r>
          </a:p>
          <a:p>
            <a:pPr marL="1200150" lvl="2" indent="-285750">
              <a:spcBef>
                <a:spcPts val="1200"/>
              </a:spcBef>
            </a:pPr>
            <a:r>
              <a:rPr lang="en-GB" dirty="0"/>
              <a:t>Features: XYZ coordinate data of knots</a:t>
            </a:r>
          </a:p>
          <a:p>
            <a:pPr marL="1200150" lvl="2" indent="-285750">
              <a:spcBef>
                <a:spcPts val="1200"/>
              </a:spcBef>
            </a:pPr>
            <a:r>
              <a:rPr lang="en-GB" dirty="0"/>
              <a:t>Labels: Knot type.</a:t>
            </a:r>
          </a:p>
        </p:txBody>
      </p:sp>
      <p:sp>
        <p:nvSpPr>
          <p:cNvPr id="11" name="Google Shape;99;p16">
            <a:extLst>
              <a:ext uri="{FF2B5EF4-FFF2-40B4-BE49-F238E27FC236}">
                <a16:creationId xmlns:a16="http://schemas.microsoft.com/office/drawing/2014/main" id="{9FE9F27F-A90D-9112-B431-8C1072C91E01}"/>
              </a:ext>
            </a:extLst>
          </p:cNvPr>
          <p:cNvSpPr txBox="1">
            <a:spLocks/>
          </p:cNvSpPr>
          <p:nvPr/>
        </p:nvSpPr>
        <p:spPr>
          <a:xfrm>
            <a:off x="372347" y="2769703"/>
            <a:ext cx="8520600" cy="1490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1200"/>
              </a:spcBef>
              <a:buBlip>
                <a:blip r:embed="rId3"/>
              </a:buBlip>
            </a:pPr>
            <a:r>
              <a:rPr lang="en-GB" dirty="0"/>
              <a:t>Our Research – Classifying knot conformations.</a:t>
            </a:r>
          </a:p>
          <a:p>
            <a:pPr marL="742950" lvl="1" indent="-285750">
              <a:spcBef>
                <a:spcPts val="1200"/>
              </a:spcBef>
            </a:pPr>
            <a:r>
              <a:rPr lang="en-GB" dirty="0"/>
              <a:t>Dataset: several thousand perturbed conformations knots.</a:t>
            </a:r>
          </a:p>
          <a:p>
            <a:pPr marL="1200150" lvl="2" indent="-285750">
              <a:spcBef>
                <a:spcPts val="1200"/>
              </a:spcBef>
            </a:pPr>
            <a:r>
              <a:rPr lang="en-GB" dirty="0"/>
              <a:t>Features: Geometric knot measures.</a:t>
            </a:r>
          </a:p>
          <a:p>
            <a:pPr marL="1200150" lvl="2" indent="-285750">
              <a:spcBef>
                <a:spcPts val="1200"/>
              </a:spcBef>
            </a:pPr>
            <a:r>
              <a:rPr lang="en-GB" dirty="0"/>
              <a:t>Labels: Knot type.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3.33333E-6 L -0.0066 -0.31975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" y="-159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/>
      <p:bldP spid="6" grpId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Feature: Gaussian Linking Integral</a:t>
            </a:r>
            <a:r>
              <a:rPr lang="en-GB" baseline="30000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3</a:t>
            </a: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. </a:t>
            </a:r>
            <a:endParaRPr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cxnSp>
        <p:nvCxnSpPr>
          <p:cNvPr id="91" name="Google Shape;91;p15"/>
          <p:cNvCxnSpPr/>
          <p:nvPr/>
        </p:nvCxnSpPr>
        <p:spPr>
          <a:xfrm>
            <a:off x="311700" y="1017750"/>
            <a:ext cx="843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99;p16">
            <a:extLst>
              <a:ext uri="{FF2B5EF4-FFF2-40B4-BE49-F238E27FC236}">
                <a16:creationId xmlns:a16="http://schemas.microsoft.com/office/drawing/2014/main" id="{C0D58CC7-9690-918A-5099-ECBEA86D3EF2}"/>
              </a:ext>
            </a:extLst>
          </p:cNvPr>
          <p:cNvSpPr txBox="1">
            <a:spLocks/>
          </p:cNvSpPr>
          <p:nvPr/>
        </p:nvSpPr>
        <p:spPr>
          <a:xfrm>
            <a:off x="372347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1200"/>
              </a:spcBef>
            </a:pPr>
            <a:endParaRPr lang="en-GB" dirty="0"/>
          </a:p>
          <a:p>
            <a:pPr marL="285750" indent="-285750">
              <a:spcBef>
                <a:spcPts val="1200"/>
              </a:spcBef>
            </a:pPr>
            <a:endParaRPr lang="en-GB" dirty="0"/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4CBF292-2B9C-51AF-AF66-8AE5C9482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68" y="1677168"/>
            <a:ext cx="801787" cy="832625"/>
          </a:xfrm>
          <a:prstGeom prst="rect">
            <a:avLst/>
          </a:prstGeom>
        </p:spPr>
      </p:pic>
      <p:pic>
        <p:nvPicPr>
          <p:cNvPr id="10" name="Picture 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E831DD2-0EAF-92A0-5C19-025FAD39F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8924" y="2310484"/>
            <a:ext cx="2349154" cy="365755"/>
          </a:xfrm>
          <a:prstGeom prst="rect">
            <a:avLst/>
          </a:prstGeom>
        </p:spPr>
      </p:pic>
      <p:pic>
        <p:nvPicPr>
          <p:cNvPr id="12" name="Picture 11" descr="A diagram of a knot&#10;&#10;Description automatically generated">
            <a:extLst>
              <a:ext uri="{FF2B5EF4-FFF2-40B4-BE49-F238E27FC236}">
                <a16:creationId xmlns:a16="http://schemas.microsoft.com/office/drawing/2014/main" id="{40A9A2EF-1B95-3587-33FA-5701810116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655" r="57236" b="17487"/>
          <a:stretch/>
        </p:blipFill>
        <p:spPr>
          <a:xfrm>
            <a:off x="1426285" y="1560466"/>
            <a:ext cx="1811675" cy="2314956"/>
          </a:xfrm>
          <a:prstGeom prst="rect">
            <a:avLst/>
          </a:prstGeom>
        </p:spPr>
      </p:pic>
      <p:pic>
        <p:nvPicPr>
          <p:cNvPr id="13" name="Picture 12" descr="A diagram of a knot&#10;&#10;Description automatically generated">
            <a:extLst>
              <a:ext uri="{FF2B5EF4-FFF2-40B4-BE49-F238E27FC236}">
                <a16:creationId xmlns:a16="http://schemas.microsoft.com/office/drawing/2014/main" id="{24BD3159-5783-4D19-395F-9A052B87C2B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736" t="9655" r="-1434" b="17487"/>
          <a:stretch/>
        </p:blipFill>
        <p:spPr>
          <a:xfrm>
            <a:off x="5816214" y="1676070"/>
            <a:ext cx="2529065" cy="231495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C0B6B5-F6A0-D9D5-65A6-5C0DB6B73577}"/>
              </a:ext>
            </a:extLst>
          </p:cNvPr>
          <p:cNvCxnSpPr>
            <a:cxnSpLocks/>
          </p:cNvCxnSpPr>
          <p:nvPr/>
        </p:nvCxnSpPr>
        <p:spPr>
          <a:xfrm>
            <a:off x="3820179" y="2917319"/>
            <a:ext cx="1941662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Google Shape;67;p14">
            <a:extLst>
              <a:ext uri="{FF2B5EF4-FFF2-40B4-BE49-F238E27FC236}">
                <a16:creationId xmlns:a16="http://schemas.microsoft.com/office/drawing/2014/main" id="{E3D1026A-9F5A-A1AB-A36F-99FB89A6C0E0}"/>
              </a:ext>
            </a:extLst>
          </p:cNvPr>
          <p:cNvSpPr txBox="1"/>
          <p:nvPr/>
        </p:nvSpPr>
        <p:spPr>
          <a:xfrm>
            <a:off x="0" y="4796512"/>
            <a:ext cx="843150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[3] Sleiman, J. L., Conforto, F., </a:t>
            </a:r>
            <a:r>
              <a:rPr lang="en-GB" sz="105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Fosado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Y. A. G., &amp; </a:t>
            </a:r>
            <a:r>
              <a:rPr lang="en-GB" sz="105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Michieletto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(2024). Geometric learning of knot topology. </a:t>
            </a:r>
            <a:r>
              <a:rPr lang="en-GB" sz="105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Soft Matter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05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71-78.</a:t>
            </a:r>
            <a:endParaRPr sz="9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705180D-0917-D81C-7BAD-F7F740363144}"/>
              </a:ext>
            </a:extLst>
          </p:cNvPr>
          <p:cNvSpPr/>
          <p:nvPr/>
        </p:nvSpPr>
        <p:spPr>
          <a:xfrm>
            <a:off x="2764220" y="2568239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E8FB9BF-452E-6793-EFAD-E42FB26F14CA}"/>
              </a:ext>
            </a:extLst>
          </p:cNvPr>
          <p:cNvSpPr/>
          <p:nvPr/>
        </p:nvSpPr>
        <p:spPr>
          <a:xfrm>
            <a:off x="2550237" y="2863319"/>
            <a:ext cx="108000" cy="108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5-point Star 21">
            <a:extLst>
              <a:ext uri="{FF2B5EF4-FFF2-40B4-BE49-F238E27FC236}">
                <a16:creationId xmlns:a16="http://schemas.microsoft.com/office/drawing/2014/main" id="{A1578757-3060-47BA-FC51-0092D67DD202}"/>
              </a:ext>
            </a:extLst>
          </p:cNvPr>
          <p:cNvSpPr/>
          <p:nvPr/>
        </p:nvSpPr>
        <p:spPr>
          <a:xfrm>
            <a:off x="6505903" y="2238484"/>
            <a:ext cx="144000" cy="1440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EFB626A2-4018-6F0F-010A-9BED727E8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05348523-5AF0-A19C-D3F9-767C6A248E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Dataset</a:t>
            </a:r>
            <a:r>
              <a:rPr lang="en-GB" baseline="30000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3</a:t>
            </a: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.</a:t>
            </a:r>
            <a:endParaRPr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96C087B1-95FB-AC56-9E4E-E6F969B23F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956B6169-9DC9-1E5F-6C59-432D5719C2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34DEC33F-034B-E1A5-828E-7EBC9851146E}"/>
              </a:ext>
            </a:extLst>
          </p:cNvPr>
          <p:cNvCxnSpPr/>
          <p:nvPr/>
        </p:nvCxnSpPr>
        <p:spPr>
          <a:xfrm>
            <a:off x="311700" y="1017750"/>
            <a:ext cx="843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Google Shape;99;p16">
            <a:extLst>
              <a:ext uri="{FF2B5EF4-FFF2-40B4-BE49-F238E27FC236}">
                <a16:creationId xmlns:a16="http://schemas.microsoft.com/office/drawing/2014/main" id="{C0EA2813-105F-486E-0D51-E7E062DA22A1}"/>
              </a:ext>
            </a:extLst>
          </p:cNvPr>
          <p:cNvSpPr txBox="1">
            <a:spLocks/>
          </p:cNvSpPr>
          <p:nvPr/>
        </p:nvSpPr>
        <p:spPr>
          <a:xfrm>
            <a:off x="372347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endParaRPr lang="en-GB" dirty="0"/>
          </a:p>
          <a:p>
            <a:pPr marL="285750" indent="-285750">
              <a:spcBef>
                <a:spcPts val="1200"/>
              </a:spcBef>
              <a:spcAft>
                <a:spcPts val="1200"/>
              </a:spcAft>
            </a:pPr>
            <a:endParaRPr lang="en-GB" dirty="0"/>
          </a:p>
        </p:txBody>
      </p:sp>
      <p:sp>
        <p:nvSpPr>
          <p:cNvPr id="3" name="Google Shape;99;p16">
            <a:extLst>
              <a:ext uri="{FF2B5EF4-FFF2-40B4-BE49-F238E27FC236}">
                <a16:creationId xmlns:a16="http://schemas.microsoft.com/office/drawing/2014/main" id="{1DC3716F-C519-4E4D-9F7C-CF0F755EBCD2}"/>
              </a:ext>
            </a:extLst>
          </p:cNvPr>
          <p:cNvSpPr txBox="1">
            <a:spLocks/>
          </p:cNvSpPr>
          <p:nvPr/>
        </p:nvSpPr>
        <p:spPr>
          <a:xfrm>
            <a:off x="2739847" y="1917130"/>
            <a:ext cx="753574" cy="55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3200" dirty="0"/>
              <a:t>…</a:t>
            </a:r>
          </a:p>
        </p:txBody>
      </p:sp>
      <p:sp>
        <p:nvSpPr>
          <p:cNvPr id="4" name="Google Shape;99;p16">
            <a:extLst>
              <a:ext uri="{FF2B5EF4-FFF2-40B4-BE49-F238E27FC236}">
                <a16:creationId xmlns:a16="http://schemas.microsoft.com/office/drawing/2014/main" id="{094DF8F3-77F6-3776-4476-A54210D13FEA}"/>
              </a:ext>
            </a:extLst>
          </p:cNvPr>
          <p:cNvSpPr txBox="1">
            <a:spLocks/>
          </p:cNvSpPr>
          <p:nvPr/>
        </p:nvSpPr>
        <p:spPr>
          <a:xfrm>
            <a:off x="3378293" y="2144831"/>
            <a:ext cx="5257322" cy="55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000" dirty="0"/>
              <a:t>100, 000 different configurations per knot.</a:t>
            </a:r>
          </a:p>
        </p:txBody>
      </p:sp>
      <p:sp>
        <p:nvSpPr>
          <p:cNvPr id="5" name="Google Shape;99;p16">
            <a:extLst>
              <a:ext uri="{FF2B5EF4-FFF2-40B4-BE49-F238E27FC236}">
                <a16:creationId xmlns:a16="http://schemas.microsoft.com/office/drawing/2014/main" id="{13D2F692-7F6A-0E4F-BF9F-750A1070E448}"/>
              </a:ext>
            </a:extLst>
          </p:cNvPr>
          <p:cNvSpPr txBox="1">
            <a:spLocks/>
          </p:cNvSpPr>
          <p:nvPr/>
        </p:nvSpPr>
        <p:spPr>
          <a:xfrm rot="5400000">
            <a:off x="1421272" y="3699915"/>
            <a:ext cx="753574" cy="55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3200" dirty="0"/>
              <a:t>…</a:t>
            </a:r>
          </a:p>
        </p:txBody>
      </p:sp>
      <p:sp>
        <p:nvSpPr>
          <p:cNvPr id="6" name="Google Shape;99;p16">
            <a:extLst>
              <a:ext uri="{FF2B5EF4-FFF2-40B4-BE49-F238E27FC236}">
                <a16:creationId xmlns:a16="http://schemas.microsoft.com/office/drawing/2014/main" id="{24A1A0EE-7890-0E4D-A3D6-69792C1EBFDC}"/>
              </a:ext>
            </a:extLst>
          </p:cNvPr>
          <p:cNvSpPr txBox="1">
            <a:spLocks/>
          </p:cNvSpPr>
          <p:nvPr/>
        </p:nvSpPr>
        <p:spPr>
          <a:xfrm>
            <a:off x="111186" y="3910274"/>
            <a:ext cx="5257322" cy="55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2000" dirty="0"/>
              <a:t>Up to 10 crossing knots.</a:t>
            </a:r>
          </a:p>
        </p:txBody>
      </p:sp>
      <p:pic>
        <p:nvPicPr>
          <p:cNvPr id="15" name="Picture 14" descr="Several colorful beads connected together&#10;&#10;Description automatically generated with medium confidence">
            <a:extLst>
              <a:ext uri="{FF2B5EF4-FFF2-40B4-BE49-F238E27FC236}">
                <a16:creationId xmlns:a16="http://schemas.microsoft.com/office/drawing/2014/main" id="{4901C6A3-BEE2-D618-D15B-58C57CF4A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33" y="1114792"/>
            <a:ext cx="2110779" cy="2611755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96F4352-58E1-12B1-E023-B62D5FC42D39}"/>
              </a:ext>
            </a:extLst>
          </p:cNvPr>
          <p:cNvSpPr/>
          <p:nvPr/>
        </p:nvSpPr>
        <p:spPr>
          <a:xfrm>
            <a:off x="403738" y="1114792"/>
            <a:ext cx="363517" cy="3886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D1CAB6-0322-06D6-40E2-30646955FE35}"/>
              </a:ext>
            </a:extLst>
          </p:cNvPr>
          <p:cNvSpPr/>
          <p:nvPr/>
        </p:nvSpPr>
        <p:spPr>
          <a:xfrm>
            <a:off x="2244418" y="1140941"/>
            <a:ext cx="363517" cy="3886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diagram of a knot&#10;&#10;Description automatically generated">
            <a:extLst>
              <a:ext uri="{FF2B5EF4-FFF2-40B4-BE49-F238E27FC236}">
                <a16:creationId xmlns:a16="http://schemas.microsoft.com/office/drawing/2014/main" id="{6924F464-AE27-2BA9-04AA-B68E1B5D08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736" t="9655" r="-1434" b="17487"/>
          <a:stretch/>
        </p:blipFill>
        <p:spPr>
          <a:xfrm>
            <a:off x="311700" y="1229323"/>
            <a:ext cx="2567910" cy="2350512"/>
          </a:xfrm>
          <a:prstGeom prst="rect">
            <a:avLst/>
          </a:prstGeom>
        </p:spPr>
      </p:pic>
      <p:sp>
        <p:nvSpPr>
          <p:cNvPr id="22" name="Google Shape;67;p14">
            <a:extLst>
              <a:ext uri="{FF2B5EF4-FFF2-40B4-BE49-F238E27FC236}">
                <a16:creationId xmlns:a16="http://schemas.microsoft.com/office/drawing/2014/main" id="{5A90DE5F-5E6B-AACF-6438-638ECB484D2C}"/>
              </a:ext>
            </a:extLst>
          </p:cNvPr>
          <p:cNvSpPr txBox="1"/>
          <p:nvPr/>
        </p:nvSpPr>
        <p:spPr>
          <a:xfrm>
            <a:off x="0" y="4796512"/>
            <a:ext cx="843150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[3] Sleiman, J. L., Conforto, F., </a:t>
            </a:r>
            <a:r>
              <a:rPr lang="en-GB" sz="105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Fosado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Y. A. G., &amp; </a:t>
            </a:r>
            <a:r>
              <a:rPr lang="en-GB" sz="105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Michieletto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(2024). Geometric learning of knot topology. </a:t>
            </a:r>
            <a:r>
              <a:rPr lang="en-GB" sz="105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Soft Matter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05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71-78.</a:t>
            </a:r>
            <a:endParaRPr sz="900" dirty="0"/>
          </a:p>
        </p:txBody>
      </p:sp>
      <p:pic>
        <p:nvPicPr>
          <p:cNvPr id="24" name="Picture 23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62541495-5071-C67C-9D40-4CC3A2B4E2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127" t="31233" r="50000" b="30029"/>
          <a:stretch/>
        </p:blipFill>
        <p:spPr>
          <a:xfrm>
            <a:off x="635333" y="1580291"/>
            <a:ext cx="1620000" cy="1614405"/>
          </a:xfrm>
          <a:prstGeom prst="rect">
            <a:avLst/>
          </a:prstGeom>
        </p:spPr>
      </p:pic>
      <p:pic>
        <p:nvPicPr>
          <p:cNvPr id="26" name="Picture 25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0F429FE2-10CD-5D81-0B33-EE5678B6AA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146" t="31822" r="50075" b="30465"/>
          <a:stretch/>
        </p:blipFill>
        <p:spPr>
          <a:xfrm>
            <a:off x="6999033" y="1610668"/>
            <a:ext cx="1670781" cy="1584000"/>
          </a:xfrm>
          <a:prstGeom prst="rect">
            <a:avLst/>
          </a:prstGeom>
        </p:spPr>
      </p:pic>
      <p:pic>
        <p:nvPicPr>
          <p:cNvPr id="28" name="Picture 27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2CB92C8B-4904-F944-A78C-B4AA3D47DA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129" t="31440" r="49847" b="29824"/>
          <a:stretch/>
        </p:blipFill>
        <p:spPr>
          <a:xfrm>
            <a:off x="5479968" y="1594579"/>
            <a:ext cx="1632060" cy="1620000"/>
          </a:xfrm>
          <a:prstGeom prst="rect">
            <a:avLst/>
          </a:prstGeom>
        </p:spPr>
      </p:pic>
      <p:pic>
        <p:nvPicPr>
          <p:cNvPr id="30" name="Picture 29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FAE9EF22-A00A-4C81-0D27-F8D2CA13047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0185" t="31303" r="50075" b="29663"/>
          <a:stretch/>
        </p:blipFill>
        <p:spPr>
          <a:xfrm>
            <a:off x="3851364" y="1588113"/>
            <a:ext cx="1667617" cy="1638000"/>
          </a:xfrm>
          <a:prstGeom prst="rect">
            <a:avLst/>
          </a:prstGeom>
        </p:spPr>
      </p:pic>
      <p:pic>
        <p:nvPicPr>
          <p:cNvPr id="32" name="Picture 31" descr="A screenshot of a computer generated image&#10;&#10;Description automatically generated">
            <a:extLst>
              <a:ext uri="{FF2B5EF4-FFF2-40B4-BE49-F238E27FC236}">
                <a16:creationId xmlns:a16="http://schemas.microsoft.com/office/drawing/2014/main" id="{7EB018C5-D511-26CD-0DE3-13CDD856C81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303" t="31446" r="50075" b="29520"/>
          <a:stretch/>
        </p:blipFill>
        <p:spPr>
          <a:xfrm>
            <a:off x="2303379" y="1602020"/>
            <a:ext cx="1620000" cy="1637296"/>
          </a:xfrm>
          <a:prstGeom prst="rect">
            <a:avLst/>
          </a:prstGeom>
        </p:spPr>
      </p:pic>
      <p:sp>
        <p:nvSpPr>
          <p:cNvPr id="34" name="Right Brace 33">
            <a:extLst>
              <a:ext uri="{FF2B5EF4-FFF2-40B4-BE49-F238E27FC236}">
                <a16:creationId xmlns:a16="http://schemas.microsoft.com/office/drawing/2014/main" id="{A4278151-F9DC-C0BD-258B-769849CE64F3}"/>
              </a:ext>
            </a:extLst>
          </p:cNvPr>
          <p:cNvSpPr/>
          <p:nvPr/>
        </p:nvSpPr>
        <p:spPr>
          <a:xfrm rot="5400000">
            <a:off x="4254501" y="-537129"/>
            <a:ext cx="725214" cy="8120120"/>
          </a:xfrm>
          <a:prstGeom prst="rightBrace">
            <a:avLst>
              <a:gd name="adj1" fmla="val 60507"/>
              <a:gd name="adj2" fmla="val 50000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Google Shape;99;p16">
            <a:extLst>
              <a:ext uri="{FF2B5EF4-FFF2-40B4-BE49-F238E27FC236}">
                <a16:creationId xmlns:a16="http://schemas.microsoft.com/office/drawing/2014/main" id="{A4047425-8C58-0754-06AF-AB5CFC605191}"/>
              </a:ext>
            </a:extLst>
          </p:cNvPr>
          <p:cNvSpPr txBox="1">
            <a:spLocks/>
          </p:cNvSpPr>
          <p:nvPr/>
        </p:nvSpPr>
        <p:spPr>
          <a:xfrm>
            <a:off x="2949643" y="3806205"/>
            <a:ext cx="3366008" cy="55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1100" dirty="0"/>
              <a:t>Some 5</a:t>
            </a:r>
            <a:r>
              <a:rPr lang="en-GB" sz="1100" baseline="-25000" dirty="0"/>
              <a:t>1 </a:t>
            </a:r>
            <a:r>
              <a:rPr lang="en-GB" sz="1100" dirty="0"/>
              <a:t>configurations in the dataset (substantial variation).</a:t>
            </a:r>
          </a:p>
        </p:txBody>
      </p:sp>
    </p:spTree>
    <p:extLst>
      <p:ext uri="{BB962C8B-B14F-4D97-AF65-F5344CB8AC3E}">
        <p14:creationId xmlns:p14="http://schemas.microsoft.com/office/powerpoint/2010/main" val="291022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34" grpId="0" animBg="1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FFF8C48A-DBEF-79F0-0C70-F2D13D6AC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05367515-F2AA-A609-57A7-B2DE9CB50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Predicting Knot Type Using Writhe Matrix</a:t>
            </a:r>
            <a:r>
              <a:rPr lang="en-GB" baseline="30000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3</a:t>
            </a: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.</a:t>
            </a:r>
            <a:endParaRPr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6ED589B8-44A2-07A0-5EDB-03F54FE9B0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CB58EF62-0004-60EA-6239-CEFFA9DA34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41EA6224-8B5B-7AAF-5453-C5A8E75F75D3}"/>
              </a:ext>
            </a:extLst>
          </p:cNvPr>
          <p:cNvCxnSpPr/>
          <p:nvPr/>
        </p:nvCxnSpPr>
        <p:spPr>
          <a:xfrm>
            <a:off x="311700" y="1017750"/>
            <a:ext cx="843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Picture 18" descr="A diagram of a blue line&#10;&#10;Description automatically generated with medium confidence">
            <a:extLst>
              <a:ext uri="{FF2B5EF4-FFF2-40B4-BE49-F238E27FC236}">
                <a16:creationId xmlns:a16="http://schemas.microsoft.com/office/drawing/2014/main" id="{90729CAD-E681-0EA1-900D-634743D3ED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9" t="9982" r="2726" b="1031"/>
          <a:stretch/>
        </p:blipFill>
        <p:spPr>
          <a:xfrm>
            <a:off x="529909" y="1531573"/>
            <a:ext cx="3589020" cy="304015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AA27E07B-4D40-1FDF-04E7-190DC1BB4F70}"/>
              </a:ext>
            </a:extLst>
          </p:cNvPr>
          <p:cNvSpPr/>
          <p:nvPr/>
        </p:nvSpPr>
        <p:spPr>
          <a:xfrm>
            <a:off x="2246514" y="1659815"/>
            <a:ext cx="1194955" cy="457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Google Shape;99;p16">
            <a:extLst>
              <a:ext uri="{FF2B5EF4-FFF2-40B4-BE49-F238E27FC236}">
                <a16:creationId xmlns:a16="http://schemas.microsoft.com/office/drawing/2014/main" id="{34D4758C-E2F1-67CE-FD61-9EA006B98F82}"/>
              </a:ext>
            </a:extLst>
          </p:cNvPr>
          <p:cNvSpPr txBox="1">
            <a:spLocks/>
          </p:cNvSpPr>
          <p:nvPr/>
        </p:nvSpPr>
        <p:spPr>
          <a:xfrm>
            <a:off x="610634" y="1017725"/>
            <a:ext cx="3589020" cy="758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1200" b="1" dirty="0"/>
              <a:t>7 Class: classification of first 7 crossing knots.</a:t>
            </a:r>
          </a:p>
        </p:txBody>
      </p:sp>
      <p:sp>
        <p:nvSpPr>
          <p:cNvPr id="22" name="Google Shape;99;p16">
            <a:extLst>
              <a:ext uri="{FF2B5EF4-FFF2-40B4-BE49-F238E27FC236}">
                <a16:creationId xmlns:a16="http://schemas.microsoft.com/office/drawing/2014/main" id="{259E2485-92AB-EF25-D7DB-EB5C876E42D6}"/>
              </a:ext>
            </a:extLst>
          </p:cNvPr>
          <p:cNvSpPr txBox="1">
            <a:spLocks/>
          </p:cNvSpPr>
          <p:nvPr/>
        </p:nvSpPr>
        <p:spPr>
          <a:xfrm>
            <a:off x="4527451" y="1888415"/>
            <a:ext cx="2163636" cy="1862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1200"/>
              </a:spcBef>
            </a:pPr>
            <a:r>
              <a:rPr lang="en-GB" sz="1600" dirty="0"/>
              <a:t>5 Class: ~99.9%</a:t>
            </a:r>
          </a:p>
          <a:p>
            <a:pPr marL="285750" indent="-285750">
              <a:spcBef>
                <a:spcPts val="1200"/>
              </a:spcBef>
            </a:pPr>
            <a:r>
              <a:rPr lang="en-GB" sz="1600" dirty="0"/>
              <a:t>7 Class: ~99.8%</a:t>
            </a:r>
          </a:p>
          <a:p>
            <a:pPr marL="285750" indent="-285750">
              <a:spcBef>
                <a:spcPts val="1200"/>
              </a:spcBef>
            </a:pPr>
            <a:r>
              <a:rPr lang="en-GB" sz="1600" dirty="0"/>
              <a:t>10 (&gt;250 knots) Class: ~95%</a:t>
            </a:r>
          </a:p>
        </p:txBody>
      </p:sp>
      <p:sp>
        <p:nvSpPr>
          <p:cNvPr id="23" name="Google Shape;67;p14">
            <a:extLst>
              <a:ext uri="{FF2B5EF4-FFF2-40B4-BE49-F238E27FC236}">
                <a16:creationId xmlns:a16="http://schemas.microsoft.com/office/drawing/2014/main" id="{E540253E-712B-FF88-EB9D-0F3878684BD7}"/>
              </a:ext>
            </a:extLst>
          </p:cNvPr>
          <p:cNvSpPr txBox="1"/>
          <p:nvPr/>
        </p:nvSpPr>
        <p:spPr>
          <a:xfrm>
            <a:off x="0" y="4796512"/>
            <a:ext cx="843150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[3] Sleiman, J. L., Conforto, F., </a:t>
            </a:r>
            <a:r>
              <a:rPr lang="en-GB" sz="105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Fosado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Y. A. G., &amp; </a:t>
            </a:r>
            <a:r>
              <a:rPr lang="en-GB" sz="105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Michieletto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(2024). Geometric learning of knot topology. </a:t>
            </a:r>
            <a:r>
              <a:rPr lang="en-GB" sz="105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Soft Matter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05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71-78.</a:t>
            </a:r>
            <a:endParaRPr sz="900" dirty="0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A56BB3E5-E36B-2D4B-70D1-891074009687}"/>
              </a:ext>
            </a:extLst>
          </p:cNvPr>
          <p:cNvSpPr/>
          <p:nvPr/>
        </p:nvSpPr>
        <p:spPr>
          <a:xfrm rot="18856737">
            <a:off x="2470204" y="1647320"/>
            <a:ext cx="196343" cy="18488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87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D17C8AFD-8EE2-42E3-1FB3-8FF68C922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F2A0373E-F131-0BD3-9F7C-D7497D5E37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Knot Localization</a:t>
            </a:r>
            <a:r>
              <a:rPr lang="en-GB" baseline="30000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3</a:t>
            </a: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.</a:t>
            </a:r>
            <a:endParaRPr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E90C956F-17FF-3D31-D567-9FC4FC4622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7203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D7FB0985-AF88-E107-87BF-E533E42A1B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ED9D61F4-C40A-244C-F759-94DC06C4228E}"/>
              </a:ext>
            </a:extLst>
          </p:cNvPr>
          <p:cNvCxnSpPr/>
          <p:nvPr/>
        </p:nvCxnSpPr>
        <p:spPr>
          <a:xfrm>
            <a:off x="311700" y="1017750"/>
            <a:ext cx="843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30896A9-50D1-FB16-3368-1495CAD28810}"/>
              </a:ext>
            </a:extLst>
          </p:cNvPr>
          <p:cNvSpPr/>
          <p:nvPr/>
        </p:nvSpPr>
        <p:spPr>
          <a:xfrm>
            <a:off x="2246514" y="1659815"/>
            <a:ext cx="1194955" cy="457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Google Shape;99;p16">
            <a:extLst>
              <a:ext uri="{FF2B5EF4-FFF2-40B4-BE49-F238E27FC236}">
                <a16:creationId xmlns:a16="http://schemas.microsoft.com/office/drawing/2014/main" id="{6CA15BDB-72BD-EE75-BFCB-69E5ED4C2FFC}"/>
              </a:ext>
            </a:extLst>
          </p:cNvPr>
          <p:cNvSpPr txBox="1">
            <a:spLocks/>
          </p:cNvSpPr>
          <p:nvPr/>
        </p:nvSpPr>
        <p:spPr>
          <a:xfrm>
            <a:off x="610634" y="1017725"/>
            <a:ext cx="5226286" cy="758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1200" b="1" dirty="0"/>
              <a:t>Integral measure over writhe matrix provides classification of knot localization – naturally extends to knots on open curves.</a:t>
            </a:r>
          </a:p>
        </p:txBody>
      </p:sp>
      <p:sp>
        <p:nvSpPr>
          <p:cNvPr id="23" name="Google Shape;67;p14">
            <a:extLst>
              <a:ext uri="{FF2B5EF4-FFF2-40B4-BE49-F238E27FC236}">
                <a16:creationId xmlns:a16="http://schemas.microsoft.com/office/drawing/2014/main" id="{F422FF28-D133-F020-7A0C-46A9A4AEAFD7}"/>
              </a:ext>
            </a:extLst>
          </p:cNvPr>
          <p:cNvSpPr txBox="1"/>
          <p:nvPr/>
        </p:nvSpPr>
        <p:spPr>
          <a:xfrm>
            <a:off x="0" y="4796512"/>
            <a:ext cx="8431500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[3] Sleiman, J. L., Conforto, F., </a:t>
            </a:r>
            <a:r>
              <a:rPr lang="en-GB" sz="105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Fosado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Y. A. G., &amp; </a:t>
            </a:r>
            <a:r>
              <a:rPr lang="en-GB" sz="1050" b="0" i="0" u="none" strike="noStrike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Michieletto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D. (2024). Geometric learning of knot topology. </a:t>
            </a:r>
            <a:r>
              <a:rPr lang="en-GB" sz="105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Soft Matter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05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(1), 71-78.</a:t>
            </a:r>
            <a:endParaRPr sz="900" dirty="0"/>
          </a:p>
        </p:txBody>
      </p:sp>
      <p:pic>
        <p:nvPicPr>
          <p:cNvPr id="3" name="Picture 2" descr="A diagram of a network&#10;&#10;Description automatically generated">
            <a:extLst>
              <a:ext uri="{FF2B5EF4-FFF2-40B4-BE49-F238E27FC236}">
                <a16:creationId xmlns:a16="http://schemas.microsoft.com/office/drawing/2014/main" id="{F5B89AD7-B626-22B9-0124-9DE4409919C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36" t="5233" r="65789"/>
          <a:stretch/>
        </p:blipFill>
        <p:spPr>
          <a:xfrm>
            <a:off x="4143800" y="2120662"/>
            <a:ext cx="1194955" cy="2054885"/>
          </a:xfrm>
          <a:prstGeom prst="rect">
            <a:avLst/>
          </a:prstGeom>
        </p:spPr>
      </p:pic>
      <p:pic>
        <p:nvPicPr>
          <p:cNvPr id="5" name="Picture 4" descr="A diagram of a knot&#10;&#10;Description automatically generated">
            <a:extLst>
              <a:ext uri="{FF2B5EF4-FFF2-40B4-BE49-F238E27FC236}">
                <a16:creationId xmlns:a16="http://schemas.microsoft.com/office/drawing/2014/main" id="{2E4F537E-7646-DC77-3FC3-346C55E31BB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1736" t="9655" r="-1434" b="17487"/>
          <a:stretch/>
        </p:blipFill>
        <p:spPr>
          <a:xfrm>
            <a:off x="398261" y="1998400"/>
            <a:ext cx="2142376" cy="1961004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B11F087-EC12-805A-609C-EDEDDB5E321C}"/>
              </a:ext>
            </a:extLst>
          </p:cNvPr>
          <p:cNvCxnSpPr>
            <a:cxnSpLocks/>
          </p:cNvCxnSpPr>
          <p:nvPr/>
        </p:nvCxnSpPr>
        <p:spPr>
          <a:xfrm>
            <a:off x="2599981" y="3082572"/>
            <a:ext cx="1180041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EB7CEBF-76DA-7684-D35A-476C64A689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7980" y="2415113"/>
            <a:ext cx="1229094" cy="60501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900DEE5-95EE-7E5C-3C74-6D670C10895F}"/>
              </a:ext>
            </a:extLst>
          </p:cNvPr>
          <p:cNvSpPr/>
          <p:nvPr/>
        </p:nvSpPr>
        <p:spPr>
          <a:xfrm>
            <a:off x="3827074" y="1854833"/>
            <a:ext cx="441572" cy="457200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diagram of different colored lines&#10;&#10;Description automatically generated with medium confidence">
            <a:extLst>
              <a:ext uri="{FF2B5EF4-FFF2-40B4-BE49-F238E27FC236}">
                <a16:creationId xmlns:a16="http://schemas.microsoft.com/office/drawing/2014/main" id="{A88E8EEA-1EDE-A4F0-8E39-6CD9CCBF1B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634" y="1853329"/>
            <a:ext cx="7772400" cy="260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59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A7B049E5-C5DD-786E-71AC-D10519DEC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 descr="A diagram of knots and knots&#10;&#10;Description automatically generated">
            <a:extLst>
              <a:ext uri="{FF2B5EF4-FFF2-40B4-BE49-F238E27FC236}">
                <a16:creationId xmlns:a16="http://schemas.microsoft.com/office/drawing/2014/main" id="{6382CC10-4BB9-A24C-49E3-6339E223CF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972" y="1919622"/>
            <a:ext cx="6150356" cy="2733491"/>
          </a:xfrm>
          <a:prstGeom prst="rect">
            <a:avLst/>
          </a:prstGeom>
        </p:spPr>
      </p:pic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173277D5-5F5D-4781-5EA1-3993D2B192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115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Understanding What’s Being Learned: Vassiliev Invariants</a:t>
            </a:r>
            <a:r>
              <a:rPr lang="en-GB" baseline="30000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4</a:t>
            </a: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.</a:t>
            </a:r>
            <a:endParaRPr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990052F5-D622-2827-AE76-EA4D84704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01F4E6E8-3194-87D0-1C99-A5132E24182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20431964-0401-8772-3B68-DF24A75D860A}"/>
              </a:ext>
            </a:extLst>
          </p:cNvPr>
          <p:cNvCxnSpPr/>
          <p:nvPr/>
        </p:nvCxnSpPr>
        <p:spPr>
          <a:xfrm>
            <a:off x="311700" y="948412"/>
            <a:ext cx="843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Google Shape;67;p14">
            <a:extLst>
              <a:ext uri="{FF2B5EF4-FFF2-40B4-BE49-F238E27FC236}">
                <a16:creationId xmlns:a16="http://schemas.microsoft.com/office/drawing/2014/main" id="{11C8F8F8-3C81-2E66-2A05-8C6F3C2B75FA}"/>
              </a:ext>
            </a:extLst>
          </p:cNvPr>
          <p:cNvSpPr txBox="1"/>
          <p:nvPr/>
        </p:nvSpPr>
        <p:spPr>
          <a:xfrm>
            <a:off x="0" y="4685361"/>
            <a:ext cx="8832300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[4] Panagiotou, E., &amp; Kauffman, L. H. (2021). Vassiliev measures of complexity of open and closed curves in 3-space. </a:t>
            </a:r>
            <a:r>
              <a:rPr lang="en-GB" sz="105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Proceedings of the Royal Society A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GB" sz="1050" b="0" i="1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477</a:t>
            </a:r>
            <a:r>
              <a:rPr lang="en-GB" sz="1050" b="0" i="0" u="none" strike="noStrike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(2254), 20210440..</a:t>
            </a:r>
            <a:endParaRPr sz="1050" dirty="0"/>
          </a:p>
        </p:txBody>
      </p:sp>
      <p:pic>
        <p:nvPicPr>
          <p:cNvPr id="30" name="Picture 2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68C35AD-507B-D7D2-8B16-B7E578250B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070" y="1149972"/>
            <a:ext cx="3022760" cy="75270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2B5D1ED-80CA-96D5-C765-17AFB723D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50" y="1156129"/>
            <a:ext cx="7772400" cy="741349"/>
          </a:xfrm>
          <a:prstGeom prst="rect">
            <a:avLst/>
          </a:prstGeom>
        </p:spPr>
      </p:pic>
      <p:pic>
        <p:nvPicPr>
          <p:cNvPr id="48" name="Picture 47" descr="A diagram of knots and knots&#10;&#10;Description automatically generated">
            <a:extLst>
              <a:ext uri="{FF2B5EF4-FFF2-40B4-BE49-F238E27FC236}">
                <a16:creationId xmlns:a16="http://schemas.microsoft.com/office/drawing/2014/main" id="{4F107B14-CF89-22AD-A88D-7346419138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1149" y="1934923"/>
            <a:ext cx="6430001" cy="285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886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37B62FF5-CA44-02CC-E029-BF9E194D0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43059388-9984-4E14-4B2C-B873B4E17E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1152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Machine Learning Capability to Learn Encoded Vassiliev Invariants.</a:t>
            </a:r>
            <a:endParaRPr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B29ACA40-0C10-BC29-C979-6B3D6D654D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43D19EE1-8AE3-3A31-C584-B1DDDA8ABD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AAB58F79-A4F7-C7C2-8AEE-4F34F7509111}"/>
              </a:ext>
            </a:extLst>
          </p:cNvPr>
          <p:cNvCxnSpPr/>
          <p:nvPr/>
        </p:nvCxnSpPr>
        <p:spPr>
          <a:xfrm>
            <a:off x="311700" y="1017750"/>
            <a:ext cx="843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1" descr="A graph of a number of different colored bars&#10;&#10;Description automatically generated">
            <a:extLst>
              <a:ext uri="{FF2B5EF4-FFF2-40B4-BE49-F238E27FC236}">
                <a16:creationId xmlns:a16="http://schemas.microsoft.com/office/drawing/2014/main" id="{29A56895-729E-334E-D40A-CD4F094761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08" y="1198936"/>
            <a:ext cx="3902418" cy="2926814"/>
          </a:xfrm>
          <a:prstGeom prst="rect">
            <a:avLst/>
          </a:prstGeom>
        </p:spPr>
      </p:pic>
      <p:pic>
        <p:nvPicPr>
          <p:cNvPr id="19" name="Picture 18" descr="A graph of a number of different colored bars&#10;&#10;Description automatically generated">
            <a:extLst>
              <a:ext uri="{FF2B5EF4-FFF2-40B4-BE49-F238E27FC236}">
                <a16:creationId xmlns:a16="http://schemas.microsoft.com/office/drawing/2014/main" id="{178BCA1F-1137-E6EA-44C4-12F1647481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273" y="1198936"/>
            <a:ext cx="3902419" cy="2926814"/>
          </a:xfrm>
          <a:prstGeom prst="rect">
            <a:avLst/>
          </a:prstGeom>
        </p:spPr>
      </p:pic>
      <p:sp>
        <p:nvSpPr>
          <p:cNvPr id="20" name="Google Shape;99;p16">
            <a:extLst>
              <a:ext uri="{FF2B5EF4-FFF2-40B4-BE49-F238E27FC236}">
                <a16:creationId xmlns:a16="http://schemas.microsoft.com/office/drawing/2014/main" id="{324EB76B-CB3A-E32E-9FEF-70EE08CC4C4D}"/>
              </a:ext>
            </a:extLst>
          </p:cNvPr>
          <p:cNvSpPr txBox="1">
            <a:spLocks/>
          </p:cNvSpPr>
          <p:nvPr/>
        </p:nvSpPr>
        <p:spPr>
          <a:xfrm>
            <a:off x="507194" y="4125750"/>
            <a:ext cx="8246892" cy="90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sz="1400" b="1" dirty="0"/>
              <a:t>Conclusion: </a:t>
            </a:r>
            <a:r>
              <a:rPr lang="en-GB" sz="1400" dirty="0"/>
              <a:t>Machine Learning architecture struggles to learn Vassiliev Invariants. </a:t>
            </a:r>
            <a:br>
              <a:rPr lang="en-GB" sz="1400" dirty="0"/>
            </a:br>
            <a:r>
              <a:rPr lang="en-GB" sz="1400" dirty="0"/>
              <a:t>As </a:t>
            </a:r>
            <a:r>
              <a:rPr lang="en-GB" sz="1400" b="1" i="1" dirty="0"/>
              <a:t>order</a:t>
            </a:r>
            <a:r>
              <a:rPr lang="en-GB" sz="1400" b="1" dirty="0"/>
              <a:t> </a:t>
            </a:r>
            <a:r>
              <a:rPr lang="en-GB" sz="1400" b="1" i="1" dirty="0"/>
              <a:t>increases</a:t>
            </a:r>
            <a:r>
              <a:rPr lang="en-GB" sz="1400" b="1" dirty="0"/>
              <a:t> </a:t>
            </a:r>
            <a:r>
              <a:rPr lang="en-GB" sz="1400" dirty="0"/>
              <a:t>– </a:t>
            </a:r>
            <a:r>
              <a:rPr lang="en-GB" sz="1400" b="1" i="1" dirty="0"/>
              <a:t>accuracy decreases</a:t>
            </a:r>
            <a:r>
              <a:rPr lang="en-GB" sz="1400" dirty="0"/>
              <a:t>.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400130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>
          <a:extLst>
            <a:ext uri="{FF2B5EF4-FFF2-40B4-BE49-F238E27FC236}">
              <a16:creationId xmlns:a16="http://schemas.microsoft.com/office/drawing/2014/main" id="{BCE4DC37-D995-FAEF-025B-34CB54780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>
            <a:extLst>
              <a:ext uri="{FF2B5EF4-FFF2-40B4-BE49-F238E27FC236}">
                <a16:creationId xmlns:a16="http://schemas.microsoft.com/office/drawing/2014/main" id="{85454A72-0CBA-0693-E023-A6AF06D9D6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073763"/>
                </a:solidFill>
                <a:latin typeface="Epilogue SemiBold"/>
                <a:ea typeface="Epilogue SemiBold"/>
                <a:cs typeface="Epilogue SemiBold"/>
                <a:sym typeface="Epilogue SemiBold"/>
              </a:rPr>
              <a:t>Concluding Remarks</a:t>
            </a:r>
            <a:endParaRPr dirty="0">
              <a:solidFill>
                <a:srgbClr val="073763"/>
              </a:solidFill>
              <a:latin typeface="Epilogue SemiBold"/>
              <a:ea typeface="Epilogue SemiBold"/>
              <a:cs typeface="Epilogue SemiBold"/>
              <a:sym typeface="Epilogue SemiBold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CD50FE10-D659-D7F8-31BC-A1BAD56421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723B4A8A-1619-D865-AD23-8247A52DF07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C8A0C63C-E6C1-7860-2732-57D8CF695DE0}"/>
              </a:ext>
            </a:extLst>
          </p:cNvPr>
          <p:cNvCxnSpPr/>
          <p:nvPr/>
        </p:nvCxnSpPr>
        <p:spPr>
          <a:xfrm>
            <a:off x="311700" y="1017750"/>
            <a:ext cx="8431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99;p16">
            <a:extLst>
              <a:ext uri="{FF2B5EF4-FFF2-40B4-BE49-F238E27FC236}">
                <a16:creationId xmlns:a16="http://schemas.microsoft.com/office/drawing/2014/main" id="{4D0A445D-0585-546F-477E-E893131CE56D}"/>
              </a:ext>
            </a:extLst>
          </p:cNvPr>
          <p:cNvSpPr txBox="1">
            <a:spLocks/>
          </p:cNvSpPr>
          <p:nvPr/>
        </p:nvSpPr>
        <p:spPr>
          <a:xfrm>
            <a:off x="311700" y="1217600"/>
            <a:ext cx="8520600" cy="2265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1200"/>
              </a:spcBef>
              <a:buBlip>
                <a:blip r:embed="rId3"/>
              </a:buBlip>
            </a:pPr>
            <a:r>
              <a:rPr lang="en-GB" dirty="0"/>
              <a:t>Neural networks can use ‘writhe matrices’ to classify knots with very high accuracy up to 10 crossings.</a:t>
            </a:r>
          </a:p>
          <a:p>
            <a:pPr marL="285750" indent="-285750">
              <a:spcBef>
                <a:spcPts val="1200"/>
              </a:spcBef>
              <a:buBlip>
                <a:blip r:embed="rId3"/>
              </a:buBlip>
            </a:pPr>
            <a:r>
              <a:rPr lang="en-GB" dirty="0"/>
              <a:t>Vassiliev knot invariants are encoded within these writhe matrices.</a:t>
            </a:r>
          </a:p>
          <a:p>
            <a:pPr marL="285750" indent="-285750">
              <a:spcBef>
                <a:spcPts val="1200"/>
              </a:spcBef>
              <a:buBlip>
                <a:blip r:embed="rId3"/>
              </a:buBlip>
            </a:pPr>
            <a:r>
              <a:rPr lang="en-GB" dirty="0"/>
              <a:t>Neural networks struggle to learn high order </a:t>
            </a:r>
            <a:r>
              <a:rPr lang="en-GB" dirty="0" err="1"/>
              <a:t>vassiliev</a:t>
            </a:r>
            <a:r>
              <a:rPr lang="en-GB" dirty="0"/>
              <a:t> invariants from matrix data.</a:t>
            </a:r>
          </a:p>
          <a:p>
            <a:pPr marL="285750" indent="-285750">
              <a:spcBef>
                <a:spcPts val="1200"/>
              </a:spcBef>
            </a:pPr>
            <a:endParaRPr lang="en-GB" dirty="0"/>
          </a:p>
        </p:txBody>
      </p:sp>
      <p:sp>
        <p:nvSpPr>
          <p:cNvPr id="5" name="Google Shape;99;p16">
            <a:extLst>
              <a:ext uri="{FF2B5EF4-FFF2-40B4-BE49-F238E27FC236}">
                <a16:creationId xmlns:a16="http://schemas.microsoft.com/office/drawing/2014/main" id="{B0C7B0EE-20D6-94A6-C2C3-C542B1435EEA}"/>
              </a:ext>
            </a:extLst>
          </p:cNvPr>
          <p:cNvSpPr txBox="1">
            <a:spLocks/>
          </p:cNvSpPr>
          <p:nvPr/>
        </p:nvSpPr>
        <p:spPr>
          <a:xfrm>
            <a:off x="267150" y="2023378"/>
            <a:ext cx="8520600" cy="1096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spcBef>
                <a:spcPts val="1200"/>
              </a:spcBef>
              <a:buBlip>
                <a:blip r:embed="rId4"/>
              </a:buBlip>
            </a:pPr>
            <a:r>
              <a:rPr lang="en-GB" dirty="0"/>
              <a:t>Open question: </a:t>
            </a:r>
            <a:r>
              <a:rPr lang="en-GB" b="1" dirty="0"/>
              <a:t>what </a:t>
            </a:r>
            <a:r>
              <a:rPr lang="en-GB" dirty="0"/>
              <a:t>is being learned by neural networks to classify knots with such high accuracy?</a:t>
            </a:r>
          </a:p>
          <a:p>
            <a:pPr marL="285750" indent="-285750">
              <a:spcBef>
                <a:spcPts val="120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8676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7219</TotalTime>
  <Words>687</Words>
  <Application>Microsoft Macintosh PowerPoint</Application>
  <PresentationFormat>On-screen Show (16:9)</PresentationFormat>
  <Paragraphs>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Epilogue Light</vt:lpstr>
      <vt:lpstr>Epilogue SemiBold</vt:lpstr>
      <vt:lpstr>Arial</vt:lpstr>
      <vt:lpstr>Simple Light</vt:lpstr>
      <vt:lpstr>Machine Learning for Knot Invariants.</vt:lpstr>
      <vt:lpstr>Summary.</vt:lpstr>
      <vt:lpstr>Machine Learning.</vt:lpstr>
      <vt:lpstr>Machine Learning for Knot Theory.</vt:lpstr>
      <vt:lpstr>Feature: Gaussian Linking Integral3. </vt:lpstr>
      <vt:lpstr>Dataset3.</vt:lpstr>
      <vt:lpstr>Predicting Knot Type Using Writhe Matrix3.</vt:lpstr>
      <vt:lpstr>Knot Localization3.</vt:lpstr>
      <vt:lpstr>Understanding What’s Being Learned: Vassiliev Invariants4.</vt:lpstr>
      <vt:lpstr>Machine Learning Capability to Learn Encoded Vassiliev Invariants.</vt:lpstr>
      <vt:lpstr>Concluding Remarks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Broken living layers:  dislocations in active smectics [1]</dc:title>
  <cp:lastModifiedBy>Djordje Mihajlovic</cp:lastModifiedBy>
  <cp:revision>8</cp:revision>
  <dcterms:modified xsi:type="dcterms:W3CDTF">2024-12-07T09:39:53Z</dcterms:modified>
</cp:coreProperties>
</file>